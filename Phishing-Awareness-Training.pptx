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201318"/>
    <p:sldId id="267" r:id="rId201319"/>
    <p:sldId id="264" r:id="rId10"/>
    <p:sldId id="268" r:id="rId201320"/>
    <p:sldId id="269" r:id="rId201321"/>
    <p:sldId id="265" r:id="rId11"/>
    <p:sldId id="270" r:id="rId201322"/>
    <p:sldId id="271" r:id="rId201323"/>
    <p:sldId id="272" r:id="rId201324"/>
  </p:sldIdLst>
  <p:notesMasterIdLst>
    <p:notesMasterId r:id="rId12"/>
  </p:notesMasterIdLst>
  <p:sldSz cx="12191695" cy="6858000"/>
  <p:notesSz cx="6858000" cy="12191695"/>
  <p:embeddedFontLst>
    <p:embeddedFont>
      <p:font typeface="Kanit Bold"/>
      <p:regular r:id="rId201314"/>
    </p:embeddedFont>
    <p:embeddedFont>
      <p:font typeface="Kanit"/>
      <p:regular r:id="rId201315"/>
    </p:embeddedFont>
    <p:embeddedFont>
      <p:font typeface="Martel Sans Light"/>
      <p:regular r:id="rId201316"/>
    </p:embeddedFont>
    <p:embeddedFont>
      <p:font typeface="Martel Sans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  <Relationship Id="rId201318" Type="http://schemas.openxmlformats.org/officeDocument/2006/relationships/slide" Target="slides/slide11.xml"/>
  <Relationship Id="rId201319" Type="http://schemas.openxmlformats.org/officeDocument/2006/relationships/slide" Target="slides/slide12.xml"/>
  <Relationship Id="rId201320" Type="http://schemas.openxmlformats.org/officeDocument/2006/relationships/slide" Target="slides/slide13.xml"/>
  <Relationship Id="rId201321" Type="http://schemas.openxmlformats.org/officeDocument/2006/relationships/slide" Target="slides/slide14.xml"/>
  <Relationship Id="rId201322" Type="http://schemas.openxmlformats.org/officeDocument/2006/relationships/slide" Target="slides/slide15.xml"/>
  <Relationship Id="rId201323" Type="http://schemas.openxmlformats.org/officeDocument/2006/relationships/slide" Target="slides/slide16.xml"/>
  <Relationship Id="rId201324" Type="http://schemas.openxmlformats.org/officeDocument/2006/relationships/slide" Target="slides/slide17.xml"/>
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71C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0C3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2.png"/><Relationship Id="rId5" Type="http://schemas.openxmlformats.org/officeDocument/2006/relationships/image" Target="../media/image-3-3.svg"/><Relationship Id="rId6" Type="http://schemas.openxmlformats.org/officeDocument/2006/relationships/image" Target="../media/image-3-2.png"/><Relationship Id="rId7" Type="http://schemas.openxmlformats.org/officeDocument/2006/relationships/image" Target="../media/image-3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2.png"/><Relationship Id="rId5" Type="http://schemas.openxmlformats.org/officeDocument/2006/relationships/image" Target="../media/image-3-3.svg"/><Relationship Id="rId6" Type="http://schemas.openxmlformats.org/officeDocument/2006/relationships/image" Target="../media/image-3-2.png"/><Relationship Id="rId7" Type="http://schemas.openxmlformats.org/officeDocument/2006/relationships/image" Target="../media/image-3-3.svg"/><Relationship Id="rId8" Type="http://schemas.openxmlformats.org/officeDocument/2006/relationships/slideLayout" Target="../slideLayouts/slideLayout2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2.png"/><Relationship Id="rId5" Type="http://schemas.openxmlformats.org/officeDocument/2006/relationships/image" Target="../media/image-3-3.svg"/><Relationship Id="rId6" Type="http://schemas.openxmlformats.org/officeDocument/2006/relationships/image" Target="../media/image-3-2.png"/><Relationship Id="rId7" Type="http://schemas.openxmlformats.org/officeDocument/2006/relationships/image" Target="../media/image-3-3.svg"/><Relationship Id="rId8" Type="http://schemas.openxmlformats.org/officeDocument/2006/relationships/slideLayout" Target="../slideLayouts/slideLayout2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2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2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2F2B5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19522" y="513953"/>
            <a:ext cx="4372461" cy="583009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98086" y="1731268"/>
            <a:ext cx="6223638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Phishing Awareness Training</a:t>
            </a:r>
            <a:endParaRPr lang="en-US" sz="3650" dirty="0"/>
          </a:p>
        </p:txBody>
      </p:sp>
      <p:sp>
        <p:nvSpPr>
          <p:cNvPr id="5" name="Text 2"/>
          <p:cNvSpPr/>
          <p:nvPr/>
        </p:nvSpPr>
        <p:spPr>
          <a:xfrm>
            <a:off x="698086" y="2617093"/>
            <a:ext cx="6223638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Protecting yourself and our organization from today's most common cyber threat.</a:t>
            </a:r>
            <a:endParaRPr lang="en-US" sz="15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086" y="3479800"/>
            <a:ext cx="6223638" cy="164683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78189" y="4036626"/>
            <a:ext cx="940750" cy="1584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Recognize</a:t>
            </a:r>
            <a:endParaRPr lang="en-US" sz="950" dirty="0"/>
          </a:p>
        </p:txBody>
      </p:sp>
      <p:sp>
        <p:nvSpPr>
          <p:cNvPr id="8" name="Text 4"/>
          <p:cNvSpPr/>
          <p:nvPr/>
        </p:nvSpPr>
        <p:spPr>
          <a:xfrm>
            <a:off x="1178189" y="4242973"/>
            <a:ext cx="940750" cy="2695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Identify phishing signs in messages</a:t>
            </a:r>
            <a:endParaRPr lang="en-US" sz="800" dirty="0"/>
          </a:p>
        </p:txBody>
      </p:sp>
      <p:sp>
        <p:nvSpPr>
          <p:cNvPr id="9" name="Text 5"/>
          <p:cNvSpPr/>
          <p:nvPr/>
        </p:nvSpPr>
        <p:spPr>
          <a:xfrm>
            <a:off x="2256220" y="3959047"/>
            <a:ext cx="940750" cy="1584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Verify</a:t>
            </a:r>
            <a:endParaRPr lang="en-US" sz="950" dirty="0"/>
          </a:p>
        </p:txBody>
      </p:sp>
      <p:sp>
        <p:nvSpPr>
          <p:cNvPr id="10" name="Text 6"/>
          <p:cNvSpPr/>
          <p:nvPr/>
        </p:nvSpPr>
        <p:spPr>
          <a:xfrm>
            <a:off x="2256220" y="4165395"/>
            <a:ext cx="940750" cy="4042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Confirm sender and links before acting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3334251" y="4036626"/>
            <a:ext cx="940750" cy="1584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Report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3334251" y="4242973"/>
            <a:ext cx="940750" cy="404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Escalate suspicious emails to security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4412281" y="3959047"/>
            <a:ext cx="940750" cy="1584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Respond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4412281" y="4165395"/>
            <a:ext cx="940750" cy="4042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Follow incident guidance promptly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5496301" y="4036626"/>
            <a:ext cx="940750" cy="1584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Reinforce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5496301" y="4242973"/>
            <a:ext cx="940750" cy="2695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Apply lessons and refresh training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2F2B5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19522" y="513953"/>
            <a:ext cx="4372461" cy="583009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98086" y="727968"/>
            <a:ext cx="6223638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The Scale of the Threat</a:t>
            </a:r>
            <a:endParaRPr lang="en-US" sz="3650" dirty="0"/>
          </a:p>
        </p:txBody>
      </p:sp>
      <p:sp>
        <p:nvSpPr>
          <p:cNvPr id="5" name="Text 2"/>
          <p:cNvSpPr/>
          <p:nvPr/>
        </p:nvSpPr>
        <p:spPr>
          <a:xfrm>
            <a:off x="698086" y="1713508"/>
            <a:ext cx="2987104" cy="658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51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893M</a:t>
            </a:r>
            <a:endParaRPr lang="en-US" sz="5150" dirty="0"/>
          </a:p>
        </p:txBody>
      </p:sp>
      <p:sp>
        <p:nvSpPr>
          <p:cNvPr id="6" name="Text 3"/>
          <p:cNvSpPr/>
          <p:nvPr/>
        </p:nvSpPr>
        <p:spPr>
          <a:xfrm>
            <a:off x="698086" y="2621062"/>
            <a:ext cx="2987104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Phishing Attempts Blocked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98086" y="3034010"/>
            <a:ext cx="2987104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By Kaspersky alone in 2024 — a 26% increase from 2023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3934520" y="1713508"/>
            <a:ext cx="2987203" cy="658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51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1.96M</a:t>
            </a:r>
            <a:endParaRPr lang="en-US" sz="5150" dirty="0"/>
          </a:p>
        </p:txBody>
      </p:sp>
      <p:sp>
        <p:nvSpPr>
          <p:cNvPr id="9" name="Text 6"/>
          <p:cNvSpPr/>
          <p:nvPr/>
        </p:nvSpPr>
        <p:spPr>
          <a:xfrm>
            <a:off x="3934520" y="2621062"/>
            <a:ext cx="2987203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Attacks Per Year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3934520" y="3034010"/>
            <a:ext cx="2987203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A 182% increase since 2021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2316303" y="4171057"/>
            <a:ext cx="2987104" cy="658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51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1</a:t>
            </a:r>
            <a:endParaRPr lang="en-US" sz="5150" dirty="0"/>
          </a:p>
        </p:txBody>
      </p:sp>
      <p:sp>
        <p:nvSpPr>
          <p:cNvPr id="12" name="Text 9"/>
          <p:cNvSpPr/>
          <p:nvPr/>
        </p:nvSpPr>
        <p:spPr>
          <a:xfrm>
            <a:off x="2316303" y="5078611"/>
            <a:ext cx="2987104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Click to Compromise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2316303" y="5491559"/>
            <a:ext cx="2987104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A single click can put the entire network at risk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1026716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Why Phishing Works</a:t>
            </a:r>
            <a:endParaRPr lang="en-US" sz="36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086" y="2140744"/>
            <a:ext cx="3462152" cy="3462238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3144" y="2136874"/>
            <a:ext cx="2149223" cy="346997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979565" y="2361704"/>
            <a:ext cx="1597977" cy="5865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AI-Powered Perfection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4979565" y="3147715"/>
            <a:ext cx="1597977" cy="223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Attackers now use AI to craft flawless grammar and spelling — the old red flags no longer apply.</a:t>
            </a:r>
            <a:endParaRPr lang="en-US" sz="15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001791" y="2136874"/>
            <a:ext cx="2149322" cy="3469977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328213" y="2361704"/>
            <a:ext cx="1598076" cy="5865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Under 60 Seconds</a:t>
            </a:r>
            <a:endParaRPr lang="en-US" sz="1800" dirty="0"/>
          </a:p>
        </p:txBody>
      </p:sp>
      <p:sp>
        <p:nvSpPr>
          <p:cNvPr id="9" name="Text 4"/>
          <p:cNvSpPr/>
          <p:nvPr/>
        </p:nvSpPr>
        <p:spPr>
          <a:xfrm>
            <a:off x="7328213" y="3147715"/>
            <a:ext cx="1598076" cy="1915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The median time for an employee to click a phishing link — faster than most people realize.</a:t>
            </a:r>
            <a:endParaRPr lang="en-US" sz="15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350538" y="2136874"/>
            <a:ext cx="2149322" cy="3469977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676959" y="2361704"/>
            <a:ext cx="1598076" cy="5865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Trusted Brand Impersonation</a:t>
            </a:r>
            <a:endParaRPr lang="en-US" sz="1800" dirty="0"/>
          </a:p>
        </p:txBody>
      </p:sp>
      <p:sp>
        <p:nvSpPr>
          <p:cNvPr id="12" name="Text 6"/>
          <p:cNvSpPr/>
          <p:nvPr/>
        </p:nvSpPr>
        <p:spPr>
          <a:xfrm>
            <a:off x="9676959" y="3147715"/>
            <a:ext cx="1598076" cy="223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Attackers clone Booking, Airbnb, TikTok, Microsoft, and Google to appear completely legitimate.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657920"/>
            <a:ext cx="10795524" cy="5775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0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Email Red Flag #1: Urgent or Threatening Language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98086" y="1718667"/>
            <a:ext cx="4407286" cy="288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What It Looks Like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92560" y="2398713"/>
            <a:ext cx="4112812" cy="934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"Act now or your account will be closed!"</a:t>
            </a:r>
            <a:endParaRPr lang="en-US" sz="150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"Confirm immediately — you have 24 hours."</a:t>
            </a:r>
            <a:endParaRPr lang="en-US" sz="150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"Verify your identity or lose access."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98086" y="2224782"/>
            <a:ext cx="25399" cy="1282799"/>
          </a:xfrm>
          <a:prstGeom prst="roundRect">
            <a:avLst>
              <a:gd name="adj" fmla="val 50001"/>
            </a:avLst>
          </a:prstGeom>
          <a:solidFill>
            <a:srgbClr val="FD505F"/>
          </a:solidFill>
          <a:ln/>
        </p:spPr>
      </p:sp>
      <p:sp>
        <p:nvSpPr>
          <p:cNvPr id="6" name="Shape 4"/>
          <p:cNvSpPr/>
          <p:nvPr/>
        </p:nvSpPr>
        <p:spPr>
          <a:xfrm>
            <a:off x="698086" y="3724970"/>
            <a:ext cx="4407286" cy="1380827"/>
          </a:xfrm>
          <a:prstGeom prst="roundRect">
            <a:avLst>
              <a:gd name="adj" fmla="val 2133"/>
            </a:avLst>
          </a:prstGeom>
          <a:solidFill>
            <a:srgbClr val="4B3F0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4435" y="3998615"/>
            <a:ext cx="245362" cy="19635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36145" y="3947914"/>
            <a:ext cx="3572877" cy="934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Real companies rarely demand immediate action via email. Urgency is a manipulation tactic.</a:t>
            </a:r>
            <a:endParaRPr lang="en-US" sz="15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0737" y="2348607"/>
            <a:ext cx="2151306" cy="21513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2F2B5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712" y="513953"/>
            <a:ext cx="4372461" cy="583009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69971" y="657721"/>
            <a:ext cx="6223638" cy="1173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Email Red Flag #2: Requests for Personal Information</a:t>
            </a:r>
            <a:endParaRPr lang="en-US" sz="3650" dirty="0"/>
          </a:p>
        </p:txBody>
      </p:sp>
      <p:sp>
        <p:nvSpPr>
          <p:cNvPr id="5" name="Shape 2"/>
          <p:cNvSpPr/>
          <p:nvPr/>
        </p:nvSpPr>
        <p:spPr>
          <a:xfrm>
            <a:off x="5269971" y="2130227"/>
            <a:ext cx="3012107" cy="2414091"/>
          </a:xfrm>
          <a:prstGeom prst="roundRect">
            <a:avLst>
              <a:gd name="adj" fmla="val 1239"/>
            </a:avLst>
          </a:prstGeom>
          <a:solidFill>
            <a:srgbClr val="2F2B54"/>
          </a:solidFill>
          <a:ln/>
        </p:spPr>
      </p:sp>
      <p:sp>
        <p:nvSpPr>
          <p:cNvPr id="6" name="Text 3"/>
          <p:cNvSpPr/>
          <p:nvPr/>
        </p:nvSpPr>
        <p:spPr>
          <a:xfrm>
            <a:off x="5469396" y="2329656"/>
            <a:ext cx="2613257" cy="299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🚫</a:t>
            </a:r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 Never Via Email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469396" y="2748955"/>
            <a:ext cx="2613257" cy="1595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Legitimate companies will </a:t>
            </a:r>
            <a:pPr algn="l" indent="0" marL="0">
              <a:lnSpc>
                <a:spcPct val="133000"/>
              </a:lnSpc>
              <a:buNone/>
            </a:pPr>
            <a:r>
              <a:rPr lang="en-US" sz="1550" b="1" dirty="0">
                <a:solidFill>
                  <a:srgbClr val="D9E1FF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never</a:t>
            </a:r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 ask for passwords, Social Security Numbers, or credit card details over email.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8481503" y="2130227"/>
            <a:ext cx="3012107" cy="2414091"/>
          </a:xfrm>
          <a:prstGeom prst="roundRect">
            <a:avLst>
              <a:gd name="adj" fmla="val 1239"/>
            </a:avLst>
          </a:prstGeom>
          <a:solidFill>
            <a:srgbClr val="2F2B54"/>
          </a:solidFill>
          <a:ln/>
        </p:spPr>
      </p:sp>
      <p:sp>
        <p:nvSpPr>
          <p:cNvPr id="9" name="Text 6"/>
          <p:cNvSpPr/>
          <p:nvPr/>
        </p:nvSpPr>
        <p:spPr>
          <a:xfrm>
            <a:off x="8680927" y="2329656"/>
            <a:ext cx="2613257" cy="299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🏦</a:t>
            </a:r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 Banks Don't Ask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8680927" y="2748955"/>
            <a:ext cx="2613257" cy="12767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Your bank will never email you asking to "confirm" your account details — that's always a scam.</a:t>
            </a:r>
            <a:endParaRPr lang="en-US" sz="1550" dirty="0"/>
          </a:p>
        </p:txBody>
      </p:sp>
      <p:sp>
        <p:nvSpPr>
          <p:cNvPr id="11" name="Shape 8"/>
          <p:cNvSpPr/>
          <p:nvPr/>
        </p:nvSpPr>
        <p:spPr>
          <a:xfrm>
            <a:off x="5269971" y="4743748"/>
            <a:ext cx="6223638" cy="1456531"/>
          </a:xfrm>
          <a:prstGeom prst="roundRect">
            <a:avLst>
              <a:gd name="adj" fmla="val 2054"/>
            </a:avLst>
          </a:prstGeom>
          <a:solidFill>
            <a:srgbClr val="2F2B54"/>
          </a:solidFill>
          <a:ln/>
        </p:spPr>
      </p:sp>
      <p:sp>
        <p:nvSpPr>
          <p:cNvPr id="12" name="Text 9"/>
          <p:cNvSpPr/>
          <p:nvPr/>
        </p:nvSpPr>
        <p:spPr>
          <a:xfrm>
            <a:off x="5469396" y="4943177"/>
            <a:ext cx="5824789" cy="299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📞</a:t>
            </a:r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 When in Doubt, Call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5469396" y="5362476"/>
            <a:ext cx="5824789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Contact the company directly using a phone number from their </a:t>
            </a:r>
            <a:pPr algn="l" indent="0" marL="0">
              <a:lnSpc>
                <a:spcPct val="133000"/>
              </a:lnSpc>
              <a:buNone/>
            </a:pPr>
            <a:r>
              <a:rPr lang="en-US" sz="1550" b="1" dirty="0">
                <a:solidFill>
                  <a:srgbClr val="D9E1FF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official website</a:t>
            </a:r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 — not from the email itself.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783729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Email Red Flag #3: Suspicious Links and URLs</a:t>
            </a:r>
            <a:endParaRPr lang="en-US" sz="36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66129" y="1893888"/>
            <a:ext cx="5110630" cy="30332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123193" y="4000559"/>
            <a:ext cx="1270371" cy="6905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Avoid Shortened Links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3522177" y="4115716"/>
            <a:ext cx="1270371" cy="4603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Check the Domain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1895057" y="4115716"/>
            <a:ext cx="1270372" cy="4603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Hover to Preview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8037708" y="1967210"/>
            <a:ext cx="3462152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Lookalike Domains to Watch For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37708" y="2459930"/>
            <a:ext cx="3462152" cy="24137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400"/>
              </a:spcAft>
              <a:buNone/>
            </a:pPr>
            <a:r>
              <a:rPr lang="en-US" sz="15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Attackers register domains that are nearly identical to trusted brands — differing by just one character.</a:t>
            </a:r>
            <a:endParaRPr lang="en-US" sz="15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Shortened URLs also hide the real destination. </a:t>
            </a:r>
            <a:pPr algn="l" indent="0" marL="0">
              <a:lnSpc>
                <a:spcPct val="133000"/>
              </a:lnSpc>
              <a:buNone/>
            </a:pPr>
            <a:r>
              <a:rPr lang="en-US" sz="1550" b="1" dirty="0">
                <a:solidFill>
                  <a:srgbClr val="D9E1FF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Never click a shortened link</a:t>
            </a:r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 in an unsolicited email.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698086" y="5375771"/>
            <a:ext cx="10795524" cy="698500"/>
          </a:xfrm>
          <a:prstGeom prst="roundRect">
            <a:avLst>
              <a:gd name="adj" fmla="val 4284"/>
            </a:avLst>
          </a:prstGeom>
          <a:solidFill>
            <a:srgbClr val="2F2B54"/>
          </a:solidFill>
          <a:ln/>
        </p:spPr>
      </p:sp>
      <p:sp>
        <p:nvSpPr>
          <p:cNvPr id="10" name="Shape 7"/>
          <p:cNvSpPr/>
          <p:nvPr/>
        </p:nvSpPr>
        <p:spPr>
          <a:xfrm>
            <a:off x="698086" y="5375771"/>
            <a:ext cx="5397762" cy="698500"/>
          </a:xfrm>
          <a:custGeom>
            <a:avLst/>
            <a:gdLst/>
            <a:ahLst/>
            <a:cxnLst/>
            <a:rect l="l" t="t" r="r" b="b"/>
            <a:pathLst>
              <a:path w="5397762" h="698500">
                <a:moveTo>
                  <a:pt x="24935" y="0"/>
                </a:moveTo>
                <a:lnTo>
                  <a:pt x="5397762" y="0"/>
                </a:lnTo>
                <a:lnTo>
                  <a:pt x="5397762" y="698500"/>
                </a:lnTo>
                <a:lnTo>
                  <a:pt x="24935" y="698500"/>
                </a:lnTo>
                <a:arcTo hR="24935" wR="24935" stAng="5400000" swAng="5400000"/>
                <a:lnTo>
                  <a:pt x="0" y="24935"/>
                </a:lnTo>
                <a:arcTo hR="24935" wR="24935" stAng="10800000" swAng="5400000"/>
                <a:close/>
              </a:path>
            </a:pathLst>
          </a:custGeom>
          <a:solidFill>
            <a:srgbClr val="2F2B54"/>
          </a:solidFill>
          <a:ln/>
        </p:spPr>
      </p:sp>
      <p:sp>
        <p:nvSpPr>
          <p:cNvPr id="11" name="Text 8"/>
          <p:cNvSpPr/>
          <p:nvPr/>
        </p:nvSpPr>
        <p:spPr>
          <a:xfrm>
            <a:off x="897510" y="5575201"/>
            <a:ext cx="4998912" cy="299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✅</a:t>
            </a:r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 amazon.com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6095848" y="5375771"/>
            <a:ext cx="5397762" cy="698500"/>
          </a:xfrm>
          <a:custGeom>
            <a:avLst/>
            <a:gdLst/>
            <a:ahLst/>
            <a:cxnLst/>
            <a:rect l="l" t="t" r="r" b="b"/>
            <a:pathLst>
              <a:path w="5397762" h="698500">
                <a:moveTo>
                  <a:pt x="0" y="0"/>
                </a:moveTo>
                <a:lnTo>
                  <a:pt x="5372827" y="0"/>
                </a:lnTo>
                <a:arcTo hR="24935" wR="24935" stAng="16200000" swAng="5400000"/>
                <a:lnTo>
                  <a:pt x="5397762" y="673565"/>
                </a:lnTo>
                <a:arcTo hR="24935" wR="24935" stAng="0" swAng="5400000"/>
                <a:lnTo>
                  <a:pt x="0" y="698500"/>
                </a:lnTo>
                <a:lnTo>
                  <a:pt x="0" y="0"/>
                </a:lnTo>
                <a:close/>
              </a:path>
            </a:pathLst>
          </a:custGeom>
          <a:solidFill>
            <a:srgbClr val="2F2B54"/>
          </a:solidFill>
          <a:ln/>
        </p:spPr>
      </p:sp>
      <p:sp>
        <p:nvSpPr>
          <p:cNvPr id="13" name="Shape 10"/>
          <p:cNvSpPr/>
          <p:nvPr/>
        </p:nvSpPr>
        <p:spPr>
          <a:xfrm>
            <a:off x="6095848" y="5375771"/>
            <a:ext cx="25399" cy="698500"/>
          </a:xfrm>
          <a:prstGeom prst="roundRect">
            <a:avLst>
              <a:gd name="adj" fmla="val 50001"/>
            </a:avLst>
          </a:prstGeom>
          <a:solidFill>
            <a:srgbClr val="48446D"/>
          </a:solidFill>
          <a:ln/>
        </p:spPr>
      </p:sp>
      <p:sp>
        <p:nvSpPr>
          <p:cNvPr id="14" name="Text 11"/>
          <p:cNvSpPr/>
          <p:nvPr/>
        </p:nvSpPr>
        <p:spPr>
          <a:xfrm>
            <a:off x="6295272" y="5575201"/>
            <a:ext cx="4998912" cy="299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⚠️</a:t>
            </a:r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 amazan.com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1371104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Email Red Flag #4: Unexpected Attachments</a:t>
            </a:r>
            <a:endParaRPr lang="en-US" sz="36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086" y="2356743"/>
            <a:ext cx="1510171" cy="151020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98086" y="4116288"/>
            <a:ext cx="3432288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Disguised as Invoices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698086" y="4529237"/>
            <a:ext cx="3432288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Malicious files frequently arrive dressed as routine invoices, receipts, or financial documents.</a:t>
            </a:r>
            <a:endParaRPr lang="en-US" sz="15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9704" y="2356743"/>
            <a:ext cx="1510171" cy="151020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79704" y="4116288"/>
            <a:ext cx="3432288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Unknown Senders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4379704" y="4529237"/>
            <a:ext cx="3432288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Never open attachments from senders you don't recognize — even if the email looks professional.</a:t>
            </a:r>
            <a:endParaRPr lang="en-US" sz="15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1322" y="2356743"/>
            <a:ext cx="1510171" cy="151020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061322" y="4116288"/>
            <a:ext cx="3432288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Verify First</a:t>
            </a:r>
            <a:endParaRPr lang="en-US" sz="1800" dirty="0"/>
          </a:p>
        </p:txBody>
      </p:sp>
      <p:sp>
        <p:nvSpPr>
          <p:cNvPr id="11" name="Text 6"/>
          <p:cNvSpPr/>
          <p:nvPr/>
        </p:nvSpPr>
        <p:spPr>
          <a:xfrm>
            <a:off x="8061322" y="4529237"/>
            <a:ext cx="3432288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If an attachment seems suspicious, call the sender directly by phone to confirm before opening.</a:t>
            </a:r>
            <a:endParaRPr lang="en-US" sz="1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768152"/>
            <a:ext cx="10795524" cy="1173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Email Red Flag #5 &amp; #6: Address Mismatch and Generic Greetings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698086" y="2440087"/>
            <a:ext cx="5154484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BE49D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Red Flag #5:</a:t>
            </a:r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 Sender Address Mismatch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98086" y="2932807"/>
            <a:ext cx="5154484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Always check the </a:t>
            </a:r>
            <a:pPr algn="l" indent="0" marL="0">
              <a:lnSpc>
                <a:spcPct val="133000"/>
              </a:lnSpc>
              <a:buNone/>
            </a:pPr>
            <a:r>
              <a:rPr lang="en-US" sz="1550" b="1" dirty="0">
                <a:solidFill>
                  <a:srgbClr val="D9E1FF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full email address</a:t>
            </a:r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 — not just the display name shown in your inbox.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698086" y="3750667"/>
            <a:ext cx="5154484" cy="13464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Scammers use addresses like </a:t>
            </a:r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b="1" dirty="0">
                <a:solidFill>
                  <a:srgbClr val="D9E1FF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support@amaz0n-help.com</a:t>
            </a:r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 (zero instead of the letter O)</a:t>
            </a:r>
            <a:endParaRPr lang="en-US" sz="1550" dirty="0"/>
          </a:p>
          <a:p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Legitimate companies always use their official domain name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6345476" y="2440087"/>
            <a:ext cx="5154484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BE49D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Red Flag #6:</a:t>
            </a:r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 Generic Greetings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345476" y="2932807"/>
            <a:ext cx="5154484" cy="14562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400"/>
              </a:spcAft>
              <a:buNone/>
            </a:pPr>
            <a:r>
              <a:rPr lang="en-US" sz="15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Real companies know your name. A vague greeting is a sign of a mass phishing campaign.</a:t>
            </a:r>
            <a:endParaRPr lang="en-US" sz="15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If the greeting doesn't use your name, treat the email with extra suspicion.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698086" y="5391249"/>
            <a:ext cx="10795524" cy="698500"/>
          </a:xfrm>
          <a:prstGeom prst="roundRect">
            <a:avLst>
              <a:gd name="adj" fmla="val 4284"/>
            </a:avLst>
          </a:prstGeom>
          <a:solidFill>
            <a:srgbClr val="2F2B54"/>
          </a:solidFill>
          <a:ln/>
        </p:spPr>
      </p:sp>
      <p:sp>
        <p:nvSpPr>
          <p:cNvPr id="9" name="Shape 7"/>
          <p:cNvSpPr/>
          <p:nvPr/>
        </p:nvSpPr>
        <p:spPr>
          <a:xfrm>
            <a:off x="698086" y="5391249"/>
            <a:ext cx="5397762" cy="698500"/>
          </a:xfrm>
          <a:custGeom>
            <a:avLst/>
            <a:gdLst/>
            <a:ahLst/>
            <a:cxnLst/>
            <a:rect l="l" t="t" r="r" b="b"/>
            <a:pathLst>
              <a:path w="5397762" h="698500">
                <a:moveTo>
                  <a:pt x="24935" y="0"/>
                </a:moveTo>
                <a:lnTo>
                  <a:pt x="5397762" y="0"/>
                </a:lnTo>
                <a:lnTo>
                  <a:pt x="5397762" y="698500"/>
                </a:lnTo>
                <a:lnTo>
                  <a:pt x="24935" y="698500"/>
                </a:lnTo>
                <a:arcTo hR="24935" wR="24935" stAng="5400000" swAng="5400000"/>
                <a:lnTo>
                  <a:pt x="0" y="24935"/>
                </a:lnTo>
                <a:arcTo hR="24935" wR="24935" stAng="10800000" swAng="5400000"/>
                <a:close/>
              </a:path>
            </a:pathLst>
          </a:custGeom>
          <a:solidFill>
            <a:srgbClr val="2F2B54"/>
          </a:solidFill>
          <a:ln/>
        </p:spPr>
      </p:sp>
      <p:sp>
        <p:nvSpPr>
          <p:cNvPr id="10" name="Text 8"/>
          <p:cNvSpPr/>
          <p:nvPr/>
        </p:nvSpPr>
        <p:spPr>
          <a:xfrm>
            <a:off x="897510" y="5590679"/>
            <a:ext cx="4998912" cy="299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⚠️</a:t>
            </a:r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 "Dear Customer"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095848" y="5391249"/>
            <a:ext cx="5397762" cy="698500"/>
          </a:xfrm>
          <a:custGeom>
            <a:avLst/>
            <a:gdLst/>
            <a:ahLst/>
            <a:cxnLst/>
            <a:rect l="l" t="t" r="r" b="b"/>
            <a:pathLst>
              <a:path w="5397762" h="698500">
                <a:moveTo>
                  <a:pt x="0" y="0"/>
                </a:moveTo>
                <a:lnTo>
                  <a:pt x="5372827" y="0"/>
                </a:lnTo>
                <a:arcTo hR="24935" wR="24935" stAng="16200000" swAng="5400000"/>
                <a:lnTo>
                  <a:pt x="5397762" y="673565"/>
                </a:lnTo>
                <a:arcTo hR="24935" wR="24935" stAng="0" swAng="5400000"/>
                <a:lnTo>
                  <a:pt x="0" y="698500"/>
                </a:lnTo>
                <a:lnTo>
                  <a:pt x="0" y="0"/>
                </a:lnTo>
                <a:close/>
              </a:path>
            </a:pathLst>
          </a:custGeom>
          <a:solidFill>
            <a:srgbClr val="2F2B54"/>
          </a:solidFill>
          <a:ln/>
        </p:spPr>
      </p:sp>
      <p:sp>
        <p:nvSpPr>
          <p:cNvPr id="12" name="Shape 10"/>
          <p:cNvSpPr/>
          <p:nvPr/>
        </p:nvSpPr>
        <p:spPr>
          <a:xfrm>
            <a:off x="6095848" y="5391249"/>
            <a:ext cx="25399" cy="698500"/>
          </a:xfrm>
          <a:prstGeom prst="roundRect">
            <a:avLst>
              <a:gd name="adj" fmla="val 50001"/>
            </a:avLst>
          </a:prstGeom>
          <a:solidFill>
            <a:srgbClr val="48446D"/>
          </a:solidFill>
          <a:ln/>
        </p:spPr>
      </p:sp>
      <p:sp>
        <p:nvSpPr>
          <p:cNvPr id="13" name="Text 11"/>
          <p:cNvSpPr/>
          <p:nvPr/>
        </p:nvSpPr>
        <p:spPr>
          <a:xfrm>
            <a:off x="6295272" y="5590679"/>
            <a:ext cx="4998912" cy="299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⚠️</a:t>
            </a:r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 "Dear User"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2F2B5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125" y="511870"/>
            <a:ext cx="4375537" cy="583426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69971" y="575568"/>
            <a:ext cx="6223638" cy="1155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0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Real-World Example: The TikTok Shop Scam</a:t>
            </a:r>
            <a:endParaRPr lang="en-US" sz="36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9971" y="2020590"/>
            <a:ext cx="981745" cy="142061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444990" y="2216944"/>
            <a:ext cx="5048620" cy="288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Fake Login Pages Created</a:t>
            </a:r>
            <a:endParaRPr lang="en-US" sz="1800" dirty="0"/>
          </a:p>
        </p:txBody>
      </p:sp>
      <p:sp>
        <p:nvSpPr>
          <p:cNvPr id="7" name="Text 3"/>
          <p:cNvSpPr/>
          <p:nvPr/>
        </p:nvSpPr>
        <p:spPr>
          <a:xfrm>
            <a:off x="6444990" y="2621558"/>
            <a:ext cx="5048620" cy="6232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Attackers built convincing replicas of the TikTok Shop seller portal.</a:t>
            </a:r>
            <a:endParaRPr lang="en-US" sz="15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9971" y="3441204"/>
            <a:ext cx="981745" cy="142061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444990" y="3637558"/>
            <a:ext cx="5048620" cy="288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Sellers Targeted</a:t>
            </a:r>
            <a:endParaRPr lang="en-US" sz="1800" dirty="0"/>
          </a:p>
        </p:txBody>
      </p:sp>
      <p:sp>
        <p:nvSpPr>
          <p:cNvPr id="10" name="Text 5"/>
          <p:cNvSpPr/>
          <p:nvPr/>
        </p:nvSpPr>
        <p:spPr>
          <a:xfrm>
            <a:off x="6444990" y="4042172"/>
            <a:ext cx="5048620" cy="6232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Phishing emails directed TikTok Shop sellers to these fake pages with credential-stealing forms.</a:t>
            </a:r>
            <a:endParaRPr lang="en-US" sz="15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9971" y="4861818"/>
            <a:ext cx="981745" cy="1420614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444990" y="5058172"/>
            <a:ext cx="5048620" cy="288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Millions Blocked</a:t>
            </a:r>
            <a:endParaRPr lang="en-US" sz="1800" dirty="0"/>
          </a:p>
        </p:txBody>
      </p:sp>
      <p:sp>
        <p:nvSpPr>
          <p:cNvPr id="13" name="Text 7"/>
          <p:cNvSpPr/>
          <p:nvPr/>
        </p:nvSpPr>
        <p:spPr>
          <a:xfrm>
            <a:off x="6444990" y="5462786"/>
            <a:ext cx="5048620" cy="6232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Kaspersky blocked millions of these attempts in 2024 — a reminder that no platform is off-limits.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749002"/>
            <a:ext cx="10795524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0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What To Do If You're Targeted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98086" y="1690092"/>
            <a:ext cx="5177303" cy="265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If You Receive a Suspicious Email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698086" y="2140248"/>
            <a:ext cx="406687" cy="406698"/>
          </a:xfrm>
          <a:prstGeom prst="roundRect">
            <a:avLst>
              <a:gd name="adj" fmla="val 6668"/>
            </a:avLst>
          </a:prstGeom>
          <a:solidFill>
            <a:srgbClr val="2F2B54"/>
          </a:solidFill>
          <a:ln/>
        </p:spPr>
      </p:sp>
      <p:sp>
        <p:nvSpPr>
          <p:cNvPr id="5" name="Text 3"/>
          <p:cNvSpPr/>
          <p:nvPr/>
        </p:nvSpPr>
        <p:spPr>
          <a:xfrm>
            <a:off x="773788" y="2184053"/>
            <a:ext cx="255184" cy="3189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268579" y="2202359"/>
            <a:ext cx="4606810" cy="265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Don't Click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268579" y="2632075"/>
            <a:ext cx="4606810" cy="551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Avoid clicking links, opening attachments, or replying to the email.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98086" y="3510955"/>
            <a:ext cx="406687" cy="406698"/>
          </a:xfrm>
          <a:prstGeom prst="roundRect">
            <a:avLst>
              <a:gd name="adj" fmla="val 6668"/>
            </a:avLst>
          </a:prstGeom>
          <a:solidFill>
            <a:srgbClr val="2F2B54"/>
          </a:solidFill>
          <a:ln/>
        </p:spPr>
      </p:sp>
      <p:sp>
        <p:nvSpPr>
          <p:cNvPr id="9" name="Text 7"/>
          <p:cNvSpPr/>
          <p:nvPr/>
        </p:nvSpPr>
        <p:spPr>
          <a:xfrm>
            <a:off x="773788" y="3554760"/>
            <a:ext cx="255184" cy="3189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268579" y="3573066"/>
            <a:ext cx="4606810" cy="265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Report It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1268579" y="4002782"/>
            <a:ext cx="4606810" cy="551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Forward it to your IT or security team immediately using the official reporting channel.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98086" y="4881662"/>
            <a:ext cx="406687" cy="406698"/>
          </a:xfrm>
          <a:prstGeom prst="roundRect">
            <a:avLst>
              <a:gd name="adj" fmla="val 6668"/>
            </a:avLst>
          </a:prstGeom>
          <a:solidFill>
            <a:srgbClr val="2F2B54"/>
          </a:solidFill>
          <a:ln/>
        </p:spPr>
      </p:sp>
      <p:sp>
        <p:nvSpPr>
          <p:cNvPr id="13" name="Text 11"/>
          <p:cNvSpPr/>
          <p:nvPr/>
        </p:nvSpPr>
        <p:spPr>
          <a:xfrm>
            <a:off x="773788" y="4925467"/>
            <a:ext cx="255184" cy="3189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268579" y="4943773"/>
            <a:ext cx="4606810" cy="265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Already Clicked? Act Fast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1268579" y="5373489"/>
            <a:ext cx="4606810" cy="551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Disconnect from the network, change your passwords, and notify IT right away — no blame, just action.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22656" y="1690092"/>
            <a:ext cx="5177303" cy="265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Your Best Defenses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6322656" y="2119809"/>
            <a:ext cx="5177303" cy="1768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27000"/>
              </a:lnSpc>
              <a:buSzPct val="100000"/>
              <a:buChar char="•"/>
            </a:pPr>
            <a:r>
              <a:rPr lang="en-US" sz="1400" b="1" dirty="0">
                <a:solidFill>
                  <a:srgbClr val="D9E1FF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Enable MFA</a:t>
            </a:r>
            <a:pPr algn="l" marL="284480" indent="-284480">
              <a:lnSpc>
                <a:spcPct val="127000"/>
              </a:lnSpc>
              <a:buSzPct val="100000"/>
              <a:buChar char="•"/>
            </a:pPr>
            <a:r>
              <a:rPr lang="en-US" sz="14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 (Multi-Factor Authentication) — a second login step that stops stolen passwords from working</a:t>
            </a:r>
            <a:endParaRPr lang="en-US" sz="1400" dirty="0"/>
          </a:p>
          <a:p>
            <a:pPr algn="l" marL="284480" indent="-284480">
              <a:lnSpc>
                <a:spcPct val="127000"/>
              </a:lnSpc>
              <a:buSzPct val="100000"/>
              <a:buChar char="•"/>
            </a:pPr>
            <a:r>
              <a:rPr lang="en-US" sz="1400" b="1" dirty="0">
                <a:solidFill>
                  <a:srgbClr val="D9E1FF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Use a password manager</a:t>
            </a:r>
            <a:pPr algn="l" marL="284480" indent="-284480">
              <a:lnSpc>
                <a:spcPct val="127000"/>
              </a:lnSpc>
              <a:buSzPct val="100000"/>
              <a:buChar char="•"/>
            </a:pPr>
            <a:r>
              <a:rPr lang="en-US" sz="14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 to create and store unique passwords for every account</a:t>
            </a:r>
            <a:endParaRPr lang="en-US" sz="1400" dirty="0"/>
          </a:p>
          <a:p>
            <a:pPr algn="l" marL="284480" indent="-284480">
              <a:lnSpc>
                <a:spcPct val="127000"/>
              </a:lnSpc>
              <a:buSzPct val="100000"/>
              <a:buChar char="•"/>
            </a:pPr>
            <a:r>
              <a:rPr lang="en-US" sz="1400" b="1" dirty="0">
                <a:solidFill>
                  <a:srgbClr val="D9E1FF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Verify before you trust</a:t>
            </a:r>
            <a:pPr algn="l" marL="284480" indent="-284480">
              <a:lnSpc>
                <a:spcPct val="127000"/>
              </a:lnSpc>
              <a:buSzPct val="100000"/>
              <a:buChar char="•"/>
            </a:pPr>
            <a:r>
              <a:rPr lang="en-US" sz="14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 — when in doubt, pick up the phone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322656" y="4072334"/>
            <a:ext cx="5177303" cy="1212056"/>
          </a:xfrm>
          <a:prstGeom prst="roundRect">
            <a:avLst>
              <a:gd name="adj" fmla="val 2237"/>
            </a:avLst>
          </a:prstGeom>
          <a:solidFill>
            <a:srgbClr val="183A13"/>
          </a:solidFill>
          <a:ln/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03428" y="4300835"/>
            <a:ext cx="225915" cy="180777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6910115" y="4264918"/>
            <a:ext cx="4409072" cy="8268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You are the last line of defense — and now you know exactly what to look for. Stay alert and report anything suspicious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1026716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Social Engineering Tactics (Part 1)</a:t>
            </a:r>
            <a:endParaRPr lang="en-US" sz="36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086" y="2140744"/>
            <a:ext cx="3462152" cy="3462238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3144" y="2136874"/>
            <a:ext cx="2149223" cy="346997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979565" y="2361704"/>
            <a:ext cx="1597977" cy="5865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Pretexting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4979565" y="3147715"/>
            <a:ext cx="1597977" cy="223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The attacker invents a believable story — "I'm from IT, I need your login to fix an urgent issue" — to earn trust before asking for information.</a:t>
            </a:r>
            <a:endParaRPr lang="en-US" sz="15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001791" y="2136874"/>
            <a:ext cx="2149322" cy="3469977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328213" y="2361704"/>
            <a:ext cx="1598076" cy="5865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Baiting</a:t>
            </a:r>
            <a:endParaRPr lang="en-US" sz="1800" dirty="0"/>
          </a:p>
        </p:txBody>
      </p:sp>
      <p:sp>
        <p:nvSpPr>
          <p:cNvPr id="9" name="Text 4"/>
          <p:cNvSpPr/>
          <p:nvPr/>
        </p:nvSpPr>
        <p:spPr>
          <a:xfrm>
            <a:off x="7328213" y="3147715"/>
            <a:ext cx="1598076" cy="1915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A tempting offer — a free download, a USB drive left in the parking lot, a "prize" link — lures the target into taking the bait.</a:t>
            </a:r>
            <a:endParaRPr lang="en-US" sz="15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350538" y="2136874"/>
            <a:ext cx="2149322" cy="3469977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676959" y="2361704"/>
            <a:ext cx="1598076" cy="5865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Quid Pro Quo</a:t>
            </a:r>
            <a:endParaRPr lang="en-US" sz="1800" dirty="0"/>
          </a:p>
        </p:txBody>
      </p:sp>
      <p:sp>
        <p:nvSpPr>
          <p:cNvPr id="12" name="Text 6"/>
          <p:cNvSpPr/>
          <p:nvPr/>
        </p:nvSpPr>
        <p:spPr>
          <a:xfrm>
            <a:off x="9676959" y="3147715"/>
            <a:ext cx="1598076" cy="223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The attacker offers something in exchange for access — "free tech support" for your password, or a survey "reward" for your details.</a:t>
            </a:r>
            <a:endParaRPr lang="en-US" sz="15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1026716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Social Engineering Tactics (Part 2)</a:t>
            </a:r>
            <a:endParaRPr lang="en-US" sz="36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086" y="2140744"/>
            <a:ext cx="3462152" cy="3462238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3144" y="2136874"/>
            <a:ext cx="2149223" cy="346997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979565" y="2361704"/>
            <a:ext cx="1597977" cy="5865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Vishing &amp; Smishing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4979565" y="3147715"/>
            <a:ext cx="1597977" cy="223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Voice calls (vishing) or text messages (smishing) impersonate IT, delivery services, or banks to pressure victims outside of email.</a:t>
            </a:r>
            <a:endParaRPr lang="en-US" sz="15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001791" y="2136874"/>
            <a:ext cx="2149322" cy="3469977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328213" y="2361704"/>
            <a:ext cx="1598076" cy="5865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Tailgating</a:t>
            </a:r>
            <a:endParaRPr lang="en-US" sz="1800" dirty="0"/>
          </a:p>
        </p:txBody>
      </p:sp>
      <p:sp>
        <p:nvSpPr>
          <p:cNvPr id="9" name="Text 4"/>
          <p:cNvSpPr/>
          <p:nvPr/>
        </p:nvSpPr>
        <p:spPr>
          <a:xfrm>
            <a:off x="7328213" y="3147715"/>
            <a:ext cx="1598076" cy="1915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An attacker follows an employee through a secured door, relying on politeness to bypass physical access controls.</a:t>
            </a:r>
            <a:endParaRPr lang="en-US" sz="15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350538" y="2136874"/>
            <a:ext cx="2149322" cy="3469977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676959" y="2361704"/>
            <a:ext cx="1598076" cy="5865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CEO Fraud (BEC)</a:t>
            </a:r>
            <a:endParaRPr lang="en-US" sz="1800" dirty="0"/>
          </a:p>
        </p:txBody>
      </p:sp>
      <p:sp>
        <p:nvSpPr>
          <p:cNvPr id="12" name="Text 6"/>
          <p:cNvSpPr/>
          <p:nvPr/>
        </p:nvSpPr>
        <p:spPr>
          <a:xfrm>
            <a:off x="9676959" y="3147715"/>
            <a:ext cx="1598076" cy="223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A spoofed email from an "executive" pressures an employee to urgently wire funds or share sensitive data.</a:t>
            </a:r>
            <a:endParaRPr lang="en-US" sz="15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2F2B5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125" y="511870"/>
            <a:ext cx="4375537" cy="583426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69971" y="575568"/>
            <a:ext cx="6223638" cy="1155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0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Real-World Example: The MGM Resorts Breach</a:t>
            </a:r>
            <a:endParaRPr lang="en-US" sz="36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9971" y="2020590"/>
            <a:ext cx="981745" cy="142061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444990" y="2216944"/>
            <a:ext cx="5048620" cy="288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A LinkedIn Profile Was Enough</a:t>
            </a:r>
            <a:endParaRPr lang="en-US" sz="1800" dirty="0"/>
          </a:p>
        </p:txBody>
      </p:sp>
      <p:sp>
        <p:nvSpPr>
          <p:cNvPr id="7" name="Text 3"/>
          <p:cNvSpPr/>
          <p:nvPr/>
        </p:nvSpPr>
        <p:spPr>
          <a:xfrm>
            <a:off x="6444990" y="2621558"/>
            <a:ext cx="5048620" cy="6232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Attackers found an MGM employee on LinkedIn and used that identity to impersonate them.</a:t>
            </a:r>
            <a:endParaRPr lang="en-US" sz="15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9971" y="3441204"/>
            <a:ext cx="981745" cy="142061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444990" y="3637558"/>
            <a:ext cx="5048620" cy="288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One Phone Call to the Help Desk</a:t>
            </a:r>
            <a:endParaRPr lang="en-US" sz="1800" dirty="0"/>
          </a:p>
        </p:txBody>
      </p:sp>
      <p:sp>
        <p:nvSpPr>
          <p:cNvPr id="10" name="Text 5"/>
          <p:cNvSpPr/>
          <p:nvPr/>
        </p:nvSpPr>
        <p:spPr>
          <a:xfrm>
            <a:off x="6444990" y="4042172"/>
            <a:ext cx="5048620" cy="6232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Posing as the employee, they called the IT service desk and talked an agent into resetting the account’s login and MFA.</a:t>
            </a:r>
            <a:endParaRPr lang="en-US" sz="15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9971" y="4861818"/>
            <a:ext cx="981745" cy="1420614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444990" y="5058172"/>
            <a:ext cx="5048620" cy="288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$100 Million in Damages</a:t>
            </a:r>
            <a:endParaRPr lang="en-US" sz="1800" dirty="0"/>
          </a:p>
        </p:txBody>
      </p:sp>
      <p:sp>
        <p:nvSpPr>
          <p:cNvPr id="13" name="Text 7"/>
          <p:cNvSpPr/>
          <p:nvPr/>
        </p:nvSpPr>
        <p:spPr>
          <a:xfrm>
            <a:off x="6444990" y="5462786"/>
            <a:ext cx="5048620" cy="6232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That single vishing call led to a 2023 ransomware attack that shut down MGM’s systems for days and cost an estimated $100 million.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2F2B5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125" y="511870"/>
            <a:ext cx="4375537" cy="583426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69971" y="575568"/>
            <a:ext cx="6223638" cy="1155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0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Real-World Example: The $120M Fake Invoice Scam</a:t>
            </a:r>
            <a:endParaRPr lang="en-US" sz="36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9971" y="2020590"/>
            <a:ext cx="981745" cy="142061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444990" y="2216944"/>
            <a:ext cx="5048620" cy="288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A Fake Company, A Real Name</a:t>
            </a:r>
            <a:endParaRPr lang="en-US" sz="1800" dirty="0"/>
          </a:p>
        </p:txBody>
      </p:sp>
      <p:sp>
        <p:nvSpPr>
          <p:cNvPr id="7" name="Text 3"/>
          <p:cNvSpPr/>
          <p:nvPr/>
        </p:nvSpPr>
        <p:spPr>
          <a:xfrm>
            <a:off x="6444990" y="2621558"/>
            <a:ext cx="5048620" cy="6232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A scammer set up a shell company impersonating Quanta Computer, a real hardware supplier to Google and Facebook.</a:t>
            </a:r>
            <a:endParaRPr lang="en-US" sz="15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9971" y="3441204"/>
            <a:ext cx="981745" cy="142061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444990" y="3637558"/>
            <a:ext cx="5048620" cy="288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Forged Invoices, Real Payments</a:t>
            </a:r>
            <a:endParaRPr lang="en-US" sz="1800" dirty="0"/>
          </a:p>
        </p:txBody>
      </p:sp>
      <p:sp>
        <p:nvSpPr>
          <p:cNvPr id="10" name="Text 5"/>
          <p:cNvSpPr/>
          <p:nvPr/>
        </p:nvSpPr>
        <p:spPr>
          <a:xfrm>
            <a:off x="6444990" y="4042172"/>
            <a:ext cx="5048620" cy="6232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Fake invoices, contracts, and executive signatures convinced employees at both companies to approve the wire transfers.</a:t>
            </a:r>
            <a:endParaRPr lang="en-US" sz="15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9971" y="4861818"/>
            <a:ext cx="981745" cy="1420614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444990" y="5058172"/>
            <a:ext cx="5048620" cy="288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Over $120M Stolen (2013–2015)</a:t>
            </a:r>
            <a:endParaRPr lang="en-US" sz="1800" dirty="0"/>
          </a:p>
        </p:txBody>
      </p:sp>
      <p:sp>
        <p:nvSpPr>
          <p:cNvPr id="13" name="Text 7"/>
          <p:cNvSpPr/>
          <p:nvPr/>
        </p:nvSpPr>
        <p:spPr>
          <a:xfrm>
            <a:off x="6444990" y="5462786"/>
            <a:ext cx="5048620" cy="6232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Google and Facebook wired a combined $121 million before the fraud was caught — proof that even tech giants fall for a convincing email.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768152"/>
            <a:ext cx="10795524" cy="1173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Quick Quiz — Question 1 of 3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698086" y="2440087"/>
            <a:ext cx="5154484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BE49D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The Scenario:</a:t>
            </a:r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 Spot the Phish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98086" y="2932807"/>
            <a:ext cx="5154484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You receive: </a:t>
            </a:r>
            <a:pPr algn="l" indent="0" marL="0">
              <a:lnSpc>
                <a:spcPct val="133000"/>
              </a:lnSpc>
              <a:buNone/>
            </a:pPr>
            <a:r>
              <a:rPr lang="en-US" sz="1550" b="1" dirty="0">
                <a:solidFill>
                  <a:srgbClr val="D9E1FF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"URGENT: Your account will be suspended in 2 hours!</a:t>
            </a:r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 Click here to verify: amaz0n-support-verify.net"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698086" y="3750667"/>
            <a:ext cx="5154484" cy="13464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A) It’s legitimate — Amazon sends these often</a:t>
            </a:r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b="1" dirty="0">
                <a:solidFill>
                  <a:srgbClr val="D9E1FF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/>
            </a:r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/>
            </a:r>
            <a:endParaRPr lang="en-US" sz="1550" dirty="0"/>
          </a:p>
          <a:p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B) Urgent language + a lookalike domain — likely phishing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6345476" y="2440087"/>
            <a:ext cx="5154484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BE49D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Your Options:</a:t>
            </a:r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 Choose the Best Response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345476" y="2932807"/>
            <a:ext cx="5154484" cy="14562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400"/>
              </a:spcAft>
              <a:buNone/>
            </a:pPr>
            <a:r>
              <a:rPr lang="en-US" sz="15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C) Reply and ask them for more details first</a:t>
            </a:r>
            <a:endParaRPr lang="en-US" sz="15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D) Forward it to a coworker to check before deciding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698086" y="5391249"/>
            <a:ext cx="10795524" cy="698500"/>
          </a:xfrm>
          <a:prstGeom prst="roundRect">
            <a:avLst>
              <a:gd name="adj" fmla="val 4284"/>
            </a:avLst>
          </a:prstGeom>
          <a:solidFill>
            <a:srgbClr val="2F2B54"/>
          </a:solidFill>
          <a:ln/>
        </p:spPr>
      </p:sp>
      <p:sp>
        <p:nvSpPr>
          <p:cNvPr id="9" name="Shape 7"/>
          <p:cNvSpPr/>
          <p:nvPr/>
        </p:nvSpPr>
        <p:spPr>
          <a:xfrm>
            <a:off x="698086" y="5391249"/>
            <a:ext cx="5397762" cy="698500"/>
          </a:xfrm>
          <a:custGeom>
            <a:avLst/>
            <a:gdLst/>
            <a:ahLst/>
            <a:cxnLst/>
            <a:rect l="l" t="t" r="r" b="b"/>
            <a:pathLst>
              <a:path w="5397762" h="698500">
                <a:moveTo>
                  <a:pt x="24935" y="0"/>
                </a:moveTo>
                <a:lnTo>
                  <a:pt x="5397762" y="0"/>
                </a:lnTo>
                <a:lnTo>
                  <a:pt x="5397762" y="698500"/>
                </a:lnTo>
                <a:lnTo>
                  <a:pt x="24935" y="698500"/>
                </a:lnTo>
                <a:arcTo hR="24935" wR="24935" stAng="5400000" swAng="5400000"/>
                <a:lnTo>
                  <a:pt x="0" y="24935"/>
                </a:lnTo>
                <a:arcTo hR="24935" wR="24935" stAng="10800000" swAng="5400000"/>
                <a:close/>
              </a:path>
            </a:pathLst>
          </a:custGeom>
          <a:solidFill>
            <a:srgbClr val="2F2B54"/>
          </a:solidFill>
          <a:ln/>
        </p:spPr>
      </p:sp>
      <p:sp>
        <p:nvSpPr>
          <p:cNvPr id="10" name="Text 8"/>
          <p:cNvSpPr/>
          <p:nvPr/>
        </p:nvSpPr>
        <p:spPr>
          <a:xfrm>
            <a:off x="897510" y="5590679"/>
            <a:ext cx="4998912" cy="299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✅</a:t>
            </a:r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 Correct: B) Urgency + lookalike domain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095848" y="5391249"/>
            <a:ext cx="5397762" cy="698500"/>
          </a:xfrm>
          <a:custGeom>
            <a:avLst/>
            <a:gdLst/>
            <a:ahLst/>
            <a:cxnLst/>
            <a:rect l="l" t="t" r="r" b="b"/>
            <a:pathLst>
              <a:path w="5397762" h="698500">
                <a:moveTo>
                  <a:pt x="0" y="0"/>
                </a:moveTo>
                <a:lnTo>
                  <a:pt x="5372827" y="0"/>
                </a:lnTo>
                <a:arcTo hR="24935" wR="24935" stAng="16200000" swAng="5400000"/>
                <a:lnTo>
                  <a:pt x="5397762" y="673565"/>
                </a:lnTo>
                <a:arcTo hR="24935" wR="24935" stAng="0" swAng="5400000"/>
                <a:lnTo>
                  <a:pt x="0" y="698500"/>
                </a:lnTo>
                <a:lnTo>
                  <a:pt x="0" y="0"/>
                </a:lnTo>
                <a:close/>
              </a:path>
            </a:pathLst>
          </a:custGeom>
          <a:solidFill>
            <a:srgbClr val="2F2B54"/>
          </a:solidFill>
          <a:ln/>
        </p:spPr>
      </p:sp>
      <p:sp>
        <p:nvSpPr>
          <p:cNvPr id="12" name="Shape 10"/>
          <p:cNvSpPr/>
          <p:nvPr/>
        </p:nvSpPr>
        <p:spPr>
          <a:xfrm>
            <a:off x="6095848" y="5391249"/>
            <a:ext cx="25399" cy="698500"/>
          </a:xfrm>
          <a:prstGeom prst="roundRect">
            <a:avLst>
              <a:gd name="adj" fmla="val 50001"/>
            </a:avLst>
          </a:prstGeom>
          <a:solidFill>
            <a:srgbClr val="48446D"/>
          </a:solidFill>
          <a:ln/>
        </p:spPr>
      </p:sp>
      <p:sp>
        <p:nvSpPr>
          <p:cNvPr id="13" name="Text 11"/>
          <p:cNvSpPr/>
          <p:nvPr/>
        </p:nvSpPr>
        <p:spPr>
          <a:xfrm>
            <a:off x="6295272" y="5590679"/>
            <a:ext cx="4998912" cy="299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💡</a:t>
            </a:r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 Never click — just report it.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768152"/>
            <a:ext cx="10795524" cy="1173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Quick Quiz — Question 2 of 3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698086" y="2440087"/>
            <a:ext cx="5154484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BE49D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The Scenario:</a:t>
            </a:r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 Name the Tactic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98086" y="2932807"/>
            <a:ext cx="5154484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A caller says: </a:t>
            </a:r>
            <a:pPr algn="l" indent="0" marL="0">
              <a:lnSpc>
                <a:spcPct val="133000"/>
              </a:lnSpc>
              <a:buNone/>
            </a:pPr>
            <a:r>
              <a:rPr lang="en-US" sz="1550" b="1" dirty="0">
                <a:solidFill>
                  <a:srgbClr val="D9E1FF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"Hi, this is IT — we’ve seen suspicious activity</a:t>
            </a:r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 on your account. Just confirm your password so I can secure it."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698086" y="3750667"/>
            <a:ext cx="5154484" cy="13464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A) Baiting</a:t>
            </a:r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b="1" dirty="0">
                <a:solidFill>
                  <a:srgbClr val="D9E1FF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/>
            </a:r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/>
            </a:r>
            <a:endParaRPr lang="en-US" sz="1550" dirty="0"/>
          </a:p>
          <a:p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B) Tailgating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6345476" y="2440087"/>
            <a:ext cx="5154484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BE49D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Your Options:</a:t>
            </a:r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 Choose the Best Answer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345476" y="2932807"/>
            <a:ext cx="5154484" cy="14562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400"/>
              </a:spcAft>
              <a:buNone/>
            </a:pPr>
            <a:r>
              <a:rPr lang="en-US" sz="15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C) Pretexting</a:t>
            </a:r>
            <a:endParaRPr lang="en-US" sz="15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D) Quid Pro Quo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698086" y="5391249"/>
            <a:ext cx="10795524" cy="698500"/>
          </a:xfrm>
          <a:prstGeom prst="roundRect">
            <a:avLst>
              <a:gd name="adj" fmla="val 4284"/>
            </a:avLst>
          </a:prstGeom>
          <a:solidFill>
            <a:srgbClr val="2F2B54"/>
          </a:solidFill>
          <a:ln/>
        </p:spPr>
      </p:sp>
      <p:sp>
        <p:nvSpPr>
          <p:cNvPr id="9" name="Shape 7"/>
          <p:cNvSpPr/>
          <p:nvPr/>
        </p:nvSpPr>
        <p:spPr>
          <a:xfrm>
            <a:off x="698086" y="5391249"/>
            <a:ext cx="5397762" cy="698500"/>
          </a:xfrm>
          <a:custGeom>
            <a:avLst/>
            <a:gdLst/>
            <a:ahLst/>
            <a:cxnLst/>
            <a:rect l="l" t="t" r="r" b="b"/>
            <a:pathLst>
              <a:path w="5397762" h="698500">
                <a:moveTo>
                  <a:pt x="24935" y="0"/>
                </a:moveTo>
                <a:lnTo>
                  <a:pt x="5397762" y="0"/>
                </a:lnTo>
                <a:lnTo>
                  <a:pt x="5397762" y="698500"/>
                </a:lnTo>
                <a:lnTo>
                  <a:pt x="24935" y="698500"/>
                </a:lnTo>
                <a:arcTo hR="24935" wR="24935" stAng="5400000" swAng="5400000"/>
                <a:lnTo>
                  <a:pt x="0" y="24935"/>
                </a:lnTo>
                <a:arcTo hR="24935" wR="24935" stAng="10800000" swAng="5400000"/>
                <a:close/>
              </a:path>
            </a:pathLst>
          </a:custGeom>
          <a:solidFill>
            <a:srgbClr val="2F2B54"/>
          </a:solidFill>
          <a:ln/>
        </p:spPr>
      </p:sp>
      <p:sp>
        <p:nvSpPr>
          <p:cNvPr id="10" name="Text 8"/>
          <p:cNvSpPr/>
          <p:nvPr/>
        </p:nvSpPr>
        <p:spPr>
          <a:xfrm>
            <a:off x="897510" y="5590679"/>
            <a:ext cx="4998912" cy="299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✅</a:t>
            </a:r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 Correct: C) Pretexting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095848" y="5391249"/>
            <a:ext cx="5397762" cy="698500"/>
          </a:xfrm>
          <a:custGeom>
            <a:avLst/>
            <a:gdLst/>
            <a:ahLst/>
            <a:cxnLst/>
            <a:rect l="l" t="t" r="r" b="b"/>
            <a:pathLst>
              <a:path w="5397762" h="698500">
                <a:moveTo>
                  <a:pt x="0" y="0"/>
                </a:moveTo>
                <a:lnTo>
                  <a:pt x="5372827" y="0"/>
                </a:lnTo>
                <a:arcTo hR="24935" wR="24935" stAng="16200000" swAng="5400000"/>
                <a:lnTo>
                  <a:pt x="5397762" y="673565"/>
                </a:lnTo>
                <a:arcTo hR="24935" wR="24935" stAng="0" swAng="5400000"/>
                <a:lnTo>
                  <a:pt x="0" y="698500"/>
                </a:lnTo>
                <a:lnTo>
                  <a:pt x="0" y="0"/>
                </a:lnTo>
                <a:close/>
              </a:path>
            </a:pathLst>
          </a:custGeom>
          <a:solidFill>
            <a:srgbClr val="2F2B54"/>
          </a:solidFill>
          <a:ln/>
        </p:spPr>
      </p:sp>
      <p:sp>
        <p:nvSpPr>
          <p:cNvPr id="12" name="Shape 10"/>
          <p:cNvSpPr/>
          <p:nvPr/>
        </p:nvSpPr>
        <p:spPr>
          <a:xfrm>
            <a:off x="6095848" y="5391249"/>
            <a:ext cx="25399" cy="698500"/>
          </a:xfrm>
          <a:prstGeom prst="roundRect">
            <a:avLst>
              <a:gd name="adj" fmla="val 50001"/>
            </a:avLst>
          </a:prstGeom>
          <a:solidFill>
            <a:srgbClr val="48446D"/>
          </a:solidFill>
          <a:ln/>
        </p:spPr>
      </p:sp>
      <p:sp>
        <p:nvSpPr>
          <p:cNvPr id="13" name="Text 11"/>
          <p:cNvSpPr/>
          <p:nvPr/>
        </p:nvSpPr>
        <p:spPr>
          <a:xfrm>
            <a:off x="6295272" y="5590679"/>
            <a:ext cx="4998912" cy="299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💡</a:t>
            </a:r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 Fake identity + urgency = pretexting.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768152"/>
            <a:ext cx="10795524" cy="1173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Quick Quiz — Question 3 of 3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698086" y="2440087"/>
            <a:ext cx="5154484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BE49D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The Scenario:</a:t>
            </a:r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 The Invoice Trap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98086" y="2932807"/>
            <a:ext cx="5154484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An invoice looks exactly like your usual </a:t>
            </a:r>
            <a:pPr algn="l" indent="0" marL="0">
              <a:lnSpc>
                <a:spcPct val="133000"/>
              </a:lnSpc>
              <a:buNone/>
            </a:pPr>
            <a:r>
              <a:rPr lang="en-US" sz="1550" b="1" dirty="0">
                <a:solidFill>
                  <a:srgbClr val="D9E1FF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vendor’s, but the reply-to address is slightly</a:t>
            </a:r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 off, and it asks you to update the payment bank account before Friday.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698086" y="3750667"/>
            <a:ext cx="5154484" cy="13464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A) Pay it — it looks routine</a:t>
            </a:r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b="1" dirty="0">
                <a:solidFill>
                  <a:srgbClr val="D9E1FF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/>
            </a:r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/>
            </a:r>
            <a:endParaRPr lang="en-US" sz="1550" dirty="0"/>
          </a:p>
          <a:p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B) Reply to the email to confirm the new details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6345476" y="2440087"/>
            <a:ext cx="5154484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BE49D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Your Options:</a:t>
            </a:r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 Choose the Safest Move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345476" y="2932807"/>
            <a:ext cx="5154484" cy="14562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400"/>
              </a:spcAft>
              <a:buNone/>
            </a:pPr>
            <a:r>
              <a:rPr lang="en-US" sz="15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C) Call the vendor on a known number to verify before changing anything</a:t>
            </a:r>
            <a:endParaRPr lang="en-US" sz="15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D) Ignore it — it’s probably nothing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698086" y="5391249"/>
            <a:ext cx="10795524" cy="698500"/>
          </a:xfrm>
          <a:prstGeom prst="roundRect">
            <a:avLst>
              <a:gd name="adj" fmla="val 4284"/>
            </a:avLst>
          </a:prstGeom>
          <a:solidFill>
            <a:srgbClr val="2F2B54"/>
          </a:solidFill>
          <a:ln/>
        </p:spPr>
      </p:sp>
      <p:sp>
        <p:nvSpPr>
          <p:cNvPr id="9" name="Shape 7"/>
          <p:cNvSpPr/>
          <p:nvPr/>
        </p:nvSpPr>
        <p:spPr>
          <a:xfrm>
            <a:off x="698086" y="5391249"/>
            <a:ext cx="5397762" cy="698500"/>
          </a:xfrm>
          <a:custGeom>
            <a:avLst/>
            <a:gdLst/>
            <a:ahLst/>
            <a:cxnLst/>
            <a:rect l="l" t="t" r="r" b="b"/>
            <a:pathLst>
              <a:path w="5397762" h="698500">
                <a:moveTo>
                  <a:pt x="24935" y="0"/>
                </a:moveTo>
                <a:lnTo>
                  <a:pt x="5397762" y="0"/>
                </a:lnTo>
                <a:lnTo>
                  <a:pt x="5397762" y="698500"/>
                </a:lnTo>
                <a:lnTo>
                  <a:pt x="24935" y="698500"/>
                </a:lnTo>
                <a:arcTo hR="24935" wR="24935" stAng="5400000" swAng="5400000"/>
                <a:lnTo>
                  <a:pt x="0" y="24935"/>
                </a:lnTo>
                <a:arcTo hR="24935" wR="24935" stAng="10800000" swAng="5400000"/>
                <a:close/>
              </a:path>
            </a:pathLst>
          </a:custGeom>
          <a:solidFill>
            <a:srgbClr val="2F2B54"/>
          </a:solidFill>
          <a:ln/>
        </p:spPr>
      </p:sp>
      <p:sp>
        <p:nvSpPr>
          <p:cNvPr id="10" name="Text 8"/>
          <p:cNvSpPr/>
          <p:nvPr/>
        </p:nvSpPr>
        <p:spPr>
          <a:xfrm>
            <a:off x="897510" y="5590679"/>
            <a:ext cx="4998912" cy="299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✅</a:t>
            </a:r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 Correct: C) Verify separately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095848" y="5391249"/>
            <a:ext cx="5397762" cy="698500"/>
          </a:xfrm>
          <a:custGeom>
            <a:avLst/>
            <a:gdLst/>
            <a:ahLst/>
            <a:cxnLst/>
            <a:rect l="l" t="t" r="r" b="b"/>
            <a:pathLst>
              <a:path w="5397762" h="698500">
                <a:moveTo>
                  <a:pt x="0" y="0"/>
                </a:moveTo>
                <a:lnTo>
                  <a:pt x="5372827" y="0"/>
                </a:lnTo>
                <a:arcTo hR="24935" wR="24935" stAng="16200000" swAng="5400000"/>
                <a:lnTo>
                  <a:pt x="5397762" y="673565"/>
                </a:lnTo>
                <a:arcTo hR="24935" wR="24935" stAng="0" swAng="5400000"/>
                <a:lnTo>
                  <a:pt x="0" y="698500"/>
                </a:lnTo>
                <a:lnTo>
                  <a:pt x="0" y="0"/>
                </a:lnTo>
                <a:close/>
              </a:path>
            </a:pathLst>
          </a:custGeom>
          <a:solidFill>
            <a:srgbClr val="2F2B54"/>
          </a:solidFill>
          <a:ln/>
        </p:spPr>
      </p:sp>
      <p:sp>
        <p:nvSpPr>
          <p:cNvPr id="12" name="Shape 10"/>
          <p:cNvSpPr/>
          <p:nvPr/>
        </p:nvSpPr>
        <p:spPr>
          <a:xfrm>
            <a:off x="6095848" y="5391249"/>
            <a:ext cx="25399" cy="698500"/>
          </a:xfrm>
          <a:prstGeom prst="roundRect">
            <a:avLst>
              <a:gd name="adj" fmla="val 50001"/>
            </a:avLst>
          </a:prstGeom>
          <a:solidFill>
            <a:srgbClr val="48446D"/>
          </a:solidFill>
          <a:ln/>
        </p:spPr>
      </p:sp>
      <p:sp>
        <p:nvSpPr>
          <p:cNvPr id="13" name="Text 11"/>
          <p:cNvSpPr/>
          <p:nvPr/>
        </p:nvSpPr>
        <p:spPr>
          <a:xfrm>
            <a:off x="6295272" y="5590679"/>
            <a:ext cx="4998912" cy="299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💡</a:t>
            </a:r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 Just like the $120M invoice scam.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2026-09-20T14:34:42Z</dcterms:created>
  <dcterms:modified xsi:type="dcterms:W3CDTF">2026-09-20T14:34:42Z</dcterms:modified>
</cp:coreProperties>
</file>